
<file path=[Content_Types].xml><?xml version="1.0" encoding="utf-8"?>
<Types xmlns="http://schemas.openxmlformats.org/package/2006/content-types">
  <Default Extension="png" ContentType="image/png"/>
  <Default Extension="jfif" ContentType="image/jpe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94660"/>
  </p:normalViewPr>
  <p:slideViewPr>
    <p:cSldViewPr snapToGrid="0" snapToObjects="1">
      <p:cViewPr>
        <p:scale>
          <a:sx n="81" d="100"/>
          <a:sy n="81" d="100"/>
        </p:scale>
        <p:origin x="84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1FA1FF-DFB2-44A3-B735-D8BDFE31915B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F6B543-EBFB-4EC8-92D9-3A1691B204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2272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F6B543-EBFB-4EC8-92D9-3A1691B2046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4268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F6B543-EBFB-4EC8-92D9-3A1691B2046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1007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F6B543-EBFB-4EC8-92D9-3A1691B2046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0136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F6B543-EBFB-4EC8-92D9-3A1691B2046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503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F6B543-EBFB-4EC8-92D9-3A1691B2046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717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F6B543-EBFB-4EC8-92D9-3A1691B2046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9781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fi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jfif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7" y="-20320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761232"/>
            <a:ext cx="11277600" cy="333553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725" y="3725167"/>
            <a:ext cx="10496550" cy="9810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725" y="3934717"/>
            <a:ext cx="3371850" cy="7715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10075" y="3934717"/>
            <a:ext cx="3371850" cy="7715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72425" y="3934717"/>
            <a:ext cx="3371850" cy="7715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5311" y="2375194"/>
            <a:ext cx="11021377" cy="5256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140"/>
              </a:lnSpc>
            </a:pPr>
            <a:r>
              <a:rPr sz="3450" b="1" i="0" u="none" dirty="0">
                <a:solidFill>
                  <a:srgbClr val="0F172A"/>
                </a:solidFill>
                <a:latin typeface="Poppins"/>
              </a:rPr>
              <a:t>School Management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3248917"/>
            <a:ext cx="1049655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 u="none" dirty="0">
                <a:solidFill>
                  <a:srgbClr val="0D9488"/>
                </a:solidFill>
                <a:latin typeface="Inter"/>
              </a:rPr>
              <a:t>Group </a:t>
            </a:r>
            <a:r>
              <a:rPr sz="1600" b="1" i="0" u="none" dirty="0" smtClean="0">
                <a:solidFill>
                  <a:srgbClr val="0D9488"/>
                </a:solidFill>
                <a:latin typeface="Inter"/>
              </a:rPr>
              <a:t>:</a:t>
            </a:r>
            <a:r>
              <a:rPr lang="en-US" sz="1600" b="1" i="0" u="none" dirty="0" smtClean="0">
                <a:solidFill>
                  <a:srgbClr val="0D9488"/>
                </a:solidFill>
                <a:latin typeface="Inter"/>
              </a:rPr>
              <a:t> 1</a:t>
            </a:r>
            <a:r>
              <a:rPr sz="1600" b="1" i="0" u="none" dirty="0" smtClean="0">
                <a:solidFill>
                  <a:srgbClr val="0D9488"/>
                </a:solidFill>
                <a:latin typeface="Inter"/>
              </a:rPr>
              <a:t> </a:t>
            </a:r>
            <a:endParaRPr sz="1600" b="1" i="0" u="none" dirty="0">
              <a:solidFill>
                <a:srgbClr val="0D9488"/>
              </a:solidFill>
              <a:latin typeface="Inter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33450" y="4096642"/>
            <a:ext cx="32004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75" b="1" i="0" u="none">
                <a:solidFill>
                  <a:srgbClr val="0F172A"/>
                </a:solidFill>
                <a:latin typeface="Inter"/>
              </a:rPr>
              <a:t>MD Shahriar Islam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9650" y="4344292"/>
            <a:ext cx="3048000" cy="1845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lang="en-US" sz="1050" b="0" i="0" u="none" dirty="0" smtClean="0">
                <a:solidFill>
                  <a:srgbClr val="0D9488"/>
                </a:solidFill>
                <a:latin typeface="Inter SemiBold"/>
              </a:rPr>
              <a:t>Student </a:t>
            </a:r>
            <a:r>
              <a:rPr sz="1050" b="0" i="0" u="none" dirty="0" smtClean="0">
                <a:solidFill>
                  <a:srgbClr val="0D9488"/>
                </a:solidFill>
                <a:latin typeface="Inter SemiBold"/>
              </a:rPr>
              <a:t>ID</a:t>
            </a:r>
            <a:r>
              <a:rPr sz="1050" b="0" i="0" u="none" dirty="0">
                <a:solidFill>
                  <a:srgbClr val="0D9488"/>
                </a:solidFill>
                <a:latin typeface="Inter SemiBold"/>
              </a:rPr>
              <a:t>: </a:t>
            </a:r>
            <a:r>
              <a:rPr lang="en-US" sz="1050" b="0" i="0" u="none" dirty="0" smtClean="0">
                <a:solidFill>
                  <a:srgbClr val="0D9488"/>
                </a:solidFill>
                <a:latin typeface="Inter SemiBold"/>
              </a:rPr>
              <a:t>1000141905</a:t>
            </a:r>
            <a:endParaRPr sz="1050" b="0" i="0" u="none" dirty="0">
              <a:solidFill>
                <a:srgbClr val="0D9488"/>
              </a:solidFill>
              <a:latin typeface="Inter SemiBold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495800" y="4096642"/>
            <a:ext cx="32004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75" b="1" i="0" u="none">
                <a:solidFill>
                  <a:srgbClr val="0F172A"/>
                </a:solidFill>
                <a:latin typeface="Inter"/>
              </a:rPr>
              <a:t>Mirazul Islam Patawary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4344292"/>
            <a:ext cx="3048000" cy="205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lang="en-US" sz="1050" b="0" i="0" u="none" dirty="0" smtClean="0">
                <a:solidFill>
                  <a:srgbClr val="0D9488"/>
                </a:solidFill>
                <a:latin typeface="Inter SemiBold"/>
              </a:rPr>
              <a:t> Student </a:t>
            </a:r>
            <a:r>
              <a:rPr sz="1050" b="0" i="0" u="none" dirty="0" smtClean="0">
                <a:solidFill>
                  <a:srgbClr val="0D9488"/>
                </a:solidFill>
                <a:latin typeface="Inter SemiBold"/>
              </a:rPr>
              <a:t>ID</a:t>
            </a:r>
            <a:r>
              <a:rPr sz="1050" b="0" i="0" u="none" dirty="0">
                <a:solidFill>
                  <a:srgbClr val="0D9488"/>
                </a:solidFill>
                <a:latin typeface="Inter SemiBold"/>
              </a:rPr>
              <a:t>: </a:t>
            </a:r>
            <a:r>
              <a:rPr lang="en-US" sz="1050" dirty="0" smtClean="0">
                <a:solidFill>
                  <a:srgbClr val="0D9488"/>
                </a:solidFill>
                <a:latin typeface="Inter SemiBold"/>
              </a:rPr>
              <a:t>1000141348</a:t>
            </a:r>
            <a:endParaRPr sz="1050" b="0" i="0" u="none" dirty="0">
              <a:solidFill>
                <a:srgbClr val="0D9488"/>
              </a:solidFill>
              <a:latin typeface="Inter SemiBold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058150" y="4096642"/>
            <a:ext cx="32004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75" b="1" i="0" u="none">
                <a:solidFill>
                  <a:srgbClr val="0F172A"/>
                </a:solidFill>
                <a:latin typeface="Inter"/>
              </a:rPr>
              <a:t>MD Abidur Rahman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4350" y="4344292"/>
            <a:ext cx="3048000" cy="205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lang="en-US" sz="1050" b="0" i="0" u="none" dirty="0" smtClean="0">
                <a:solidFill>
                  <a:srgbClr val="0D9488"/>
                </a:solidFill>
                <a:latin typeface="Inter SemiBold"/>
              </a:rPr>
              <a:t>Student </a:t>
            </a:r>
            <a:r>
              <a:rPr sz="1050" b="0" i="0" u="none" dirty="0" smtClean="0">
                <a:solidFill>
                  <a:srgbClr val="0D9488"/>
                </a:solidFill>
                <a:latin typeface="Inter SemiBold"/>
              </a:rPr>
              <a:t>ID:</a:t>
            </a:r>
            <a:r>
              <a:rPr lang="en-US" sz="1050" b="0" i="0" u="none" dirty="0" smtClean="0">
                <a:solidFill>
                  <a:srgbClr val="0D9488"/>
                </a:solidFill>
                <a:latin typeface="Inter SemiBold"/>
              </a:rPr>
              <a:t> 1000140960</a:t>
            </a:r>
            <a:endParaRPr sz="1050" b="0" i="0" u="none" dirty="0">
              <a:solidFill>
                <a:srgbClr val="0D9488"/>
              </a:solidFill>
              <a:latin typeface="Inter SemiBold"/>
            </a:endParaRP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76599" y="4115692"/>
            <a:ext cx="466725" cy="1714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543"/>
            <a:ext cx="5076497" cy="529138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457200"/>
            <a:ext cx="117348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>
                <a:solidFill>
                  <a:srgbClr val="0F172A"/>
                </a:solidFill>
                <a:latin typeface="Poppins SemiBold"/>
              </a:rPr>
              <a:t>Table of Contents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990600"/>
            <a:ext cx="11277600" cy="28575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1"/>
          <p:cNvSpPr>
            <a:spLocks noChangeArrowheads="1"/>
          </p:cNvSpPr>
          <p:nvPr/>
        </p:nvSpPr>
        <p:spPr bwMode="auto">
          <a:xfrm>
            <a:off x="786767" y="1250079"/>
            <a:ext cx="4274632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Introduction &amp; Team Overview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Project Domain &amp; Requirements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Agile Scrum Methodology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User Stories &amp; Task Allocation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Use Case Diagram &amp; System Roles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Entity Relationship Diagram (ERD)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Data Dictionary &amp; Structure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Conclusion &amp; Q&amp;A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GitHub Workflow &amp; Version Control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000" y="1279351"/>
            <a:ext cx="4584981" cy="50755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208046"/>
            <a:ext cx="5719970" cy="33239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Inter"/>
              </a:rPr>
              <a:t>System Concept: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Inter"/>
              </a:rPr>
              <a:t> A simple digital database system designed for a primary school.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Inter"/>
              </a:rPr>
              <a:t>Main Goal: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Inter"/>
              </a:rPr>
              <a:t> Stores and manages all daily school records in one central place instead of paper records.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Inter"/>
              </a:rPr>
              <a:t>Core Features: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Inter"/>
              </a:rPr>
              <a:t> Easily handles student details, teacher profiles, and daily attendance.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Inter"/>
              </a:rPr>
              <a:t>Key Operations: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Inter"/>
              </a:rPr>
              <a:t> Manages class timetables, exam results, and fee collection smoothly.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0951" y="1500186"/>
            <a:ext cx="4127077" cy="463391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7200" y="433346"/>
            <a:ext cx="117348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0F172A"/>
                </a:solidFill>
                <a:latin typeface="Poppins SemiBold"/>
              </a:rPr>
              <a:t>Introduction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990600"/>
            <a:ext cx="11277600" cy="28575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450" y="1137036"/>
            <a:ext cx="5467350" cy="535917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00100" y="2838450"/>
            <a:ext cx="51244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912"/>
              </a:lnSpc>
            </a:pPr>
            <a:r>
              <a:rPr lang="en-US" sz="14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Inter"/>
              </a:rPr>
              <a:t>Admin:</a:t>
            </a:r>
            <a:r>
              <a:rPr lang="en-US" sz="1400" smtClean="0">
                <a:solidFill>
                  <a:schemeClr val="tx1">
                    <a:lumMod val="75000"/>
                    <a:lumOff val="25000"/>
                  </a:schemeClr>
                </a:solidFill>
                <a:latin typeface="Inter"/>
              </a:rPr>
              <a:t> Manages student and teacher information, archives old records, and sets up class schedules.</a:t>
            </a:r>
            <a:endParaRPr sz="1275" b="0" i="0" u="none" dirty="0">
              <a:solidFill>
                <a:schemeClr val="tx1">
                  <a:lumMod val="75000"/>
                  <a:lumOff val="25000"/>
                </a:schemeClr>
              </a:solidFill>
              <a:latin typeface="Inter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00100" y="3495675"/>
            <a:ext cx="51244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912"/>
              </a:lnSpc>
            </a:pP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Inter"/>
              </a:rPr>
              <a:t>Teacher: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Inter"/>
              </a:rPr>
              <a:t> Checks class schedules, takes daily student attendance, and records exam results.</a:t>
            </a:r>
            <a:endParaRPr sz="1275" b="0" i="0" u="none" dirty="0">
              <a:solidFill>
                <a:schemeClr val="tx1">
                  <a:lumMod val="75000"/>
                  <a:lumOff val="25000"/>
                </a:schemeClr>
              </a:solidFill>
              <a:latin typeface="Inter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00100" y="4152900"/>
            <a:ext cx="51244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912"/>
              </a:lnSpc>
            </a:pP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Inter"/>
              </a:rPr>
              <a:t>Parent: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Inter"/>
              </a:rPr>
              <a:t> Views student fee details and updates or checks parent contact information. </a:t>
            </a:r>
            <a:endParaRPr sz="1275" b="0" i="0" u="none" dirty="0">
              <a:solidFill>
                <a:schemeClr val="tx1">
                  <a:lumMod val="75000"/>
                  <a:lumOff val="25000"/>
                </a:schemeClr>
              </a:solidFill>
              <a:latin typeface="Inter"/>
            </a:endParaRP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852737"/>
            <a:ext cx="238125" cy="2000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509962"/>
            <a:ext cx="238125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4167187"/>
            <a:ext cx="238125" cy="2000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457200"/>
            <a:ext cx="117348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>
                <a:solidFill>
                  <a:srgbClr val="0F172A"/>
                </a:solidFill>
                <a:latin typeface="Poppins SemiBold"/>
              </a:rPr>
              <a:t>Use Case Diagram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990600"/>
            <a:ext cx="11277600" cy="28575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78440" y="1300032"/>
            <a:ext cx="5245370" cy="504850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00100" y="4810125"/>
            <a:ext cx="51244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912"/>
              </a:lnSpc>
            </a:pP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Inter"/>
              </a:rPr>
              <a:t>Committee: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Inter"/>
              </a:rPr>
              <a:t> Oversees student fee records and checks parent information for management purposes.</a:t>
            </a:r>
            <a:endParaRPr sz="1275" b="0" i="0" u="none" dirty="0">
              <a:solidFill>
                <a:schemeClr val="tx1">
                  <a:lumMod val="75000"/>
                  <a:lumOff val="25000"/>
                </a:schemeClr>
              </a:solidFill>
              <a:latin typeface="Inter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68513" y="4770715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4011" y="1663284"/>
            <a:ext cx="5124450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Inter"/>
              </a:rPr>
              <a:t>This Use Case Diagram shows who uses the School Management System and what tasks they can perform in it: </a:t>
            </a:r>
            <a:endParaRPr sz="1600" b="1" i="0" u="none" dirty="0">
              <a:solidFill>
                <a:schemeClr val="tx1">
                  <a:lumMod val="75000"/>
                  <a:lumOff val="25000"/>
                </a:schemeClr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285" y="1986457"/>
            <a:ext cx="3632150" cy="456140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9850" y="2002222"/>
            <a:ext cx="3632150" cy="4548349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02500" y="2002222"/>
            <a:ext cx="3632150" cy="454834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50410" y="2968451"/>
            <a:ext cx="3155900" cy="2680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912"/>
              </a:lnSpc>
            </a:pPr>
            <a:r>
              <a:rPr sz="1600" b="1" i="0" u="none" dirty="0">
                <a:solidFill>
                  <a:srgbClr val="334155"/>
                </a:solidFill>
                <a:latin typeface="Inter"/>
              </a:rPr>
              <a:t>Admin Story:</a:t>
            </a:r>
            <a:r>
              <a:rPr sz="16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lang="en-US" sz="1200" b="0" i="0" u="none" dirty="0" smtClean="0">
                <a:solidFill>
                  <a:srgbClr val="334155"/>
                </a:solidFill>
                <a:latin typeface="Inter"/>
              </a:rPr>
              <a:t>(</a:t>
            </a:r>
            <a:r>
              <a:rPr lang="en-US" sz="1200" dirty="0" smtClean="0">
                <a:solidFill>
                  <a:srgbClr val="0F172A"/>
                </a:solidFill>
                <a:latin typeface="Poppins SemiBold"/>
              </a:rPr>
              <a:t>MD </a:t>
            </a:r>
            <a:r>
              <a:rPr lang="en-US" sz="1200" dirty="0" err="1">
                <a:solidFill>
                  <a:srgbClr val="0F172A"/>
                </a:solidFill>
                <a:latin typeface="Poppins SemiBold"/>
              </a:rPr>
              <a:t>Shahriar</a:t>
            </a:r>
            <a:r>
              <a:rPr lang="en-US" sz="1200" dirty="0">
                <a:solidFill>
                  <a:srgbClr val="0F172A"/>
                </a:solidFill>
                <a:latin typeface="Poppins SemiBold"/>
              </a:rPr>
              <a:t> </a:t>
            </a:r>
            <a:r>
              <a:rPr lang="en-US" sz="1200" dirty="0" smtClean="0">
                <a:solidFill>
                  <a:srgbClr val="0F172A"/>
                </a:solidFill>
                <a:latin typeface="Poppins SemiBold"/>
              </a:rPr>
              <a:t>Islam)</a:t>
            </a:r>
            <a:endParaRPr lang="en-US" sz="1200" dirty="0">
              <a:solidFill>
                <a:srgbClr val="0F172A"/>
              </a:solidFill>
              <a:latin typeface="Poppins SemiBold"/>
            </a:endParaRPr>
          </a:p>
          <a:p>
            <a:pPr algn="l">
              <a:lnSpc>
                <a:spcPts val="1912"/>
              </a:lnSpc>
            </a:pPr>
            <a:endParaRPr lang="en-US" sz="1400" b="0" i="0" u="none" dirty="0" smtClean="0">
              <a:solidFill>
                <a:srgbClr val="334155"/>
              </a:solidFill>
              <a:latin typeface="Inter"/>
            </a:endParaRPr>
          </a:p>
          <a:p>
            <a:pPr algn="l">
              <a:lnSpc>
                <a:spcPts val="1912"/>
              </a:lnSpc>
            </a:pPr>
            <a:endParaRPr lang="en-US" sz="1400" b="0" i="0" u="none" dirty="0" smtClean="0">
              <a:solidFill>
                <a:srgbClr val="334155"/>
              </a:solidFill>
              <a:latin typeface="Inter"/>
            </a:endParaRPr>
          </a:p>
          <a:p>
            <a:pPr marL="285750" indent="-285750">
              <a:lnSpc>
                <a:spcPts val="1912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Inter"/>
              </a:rPr>
              <a:t>As an </a:t>
            </a: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Inter"/>
              </a:rPr>
              <a:t>Admin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Inter"/>
              </a:rPr>
              <a:t>, I want to manage student and teacher profiles so that the school records are always up to date</a:t>
            </a:r>
            <a:r>
              <a: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Inter"/>
              </a:rPr>
              <a:t>.</a:t>
            </a:r>
          </a:p>
          <a:p>
            <a:pPr marL="285750" indent="-285750">
              <a:lnSpc>
                <a:spcPts val="1912"/>
              </a:lnSpc>
              <a:buFont typeface="Arial" panose="020B0604020202020204" pitchFamily="34" charset="0"/>
              <a:buChar char="•"/>
            </a:pPr>
            <a:endParaRPr lang="en-US" sz="1400" b="0" i="0" u="none" dirty="0">
              <a:solidFill>
                <a:schemeClr val="tx1">
                  <a:lumMod val="75000"/>
                  <a:lumOff val="25000"/>
                </a:schemeClr>
              </a:solidFill>
              <a:latin typeface="Inter"/>
            </a:endParaRPr>
          </a:p>
          <a:p>
            <a:pPr marL="285750" indent="-285750">
              <a:lnSpc>
                <a:spcPts val="1912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Inter"/>
              </a:rPr>
              <a:t>As an </a:t>
            </a: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Inter"/>
              </a:rPr>
              <a:t>Admin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Inter"/>
              </a:rPr>
              <a:t>, I want to archive old student and teacher records so that historical data is safely stored.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Inter"/>
              </a:rPr>
              <a:t> </a:t>
            </a:r>
            <a:endParaRPr sz="1200" b="0" i="0" u="none" dirty="0">
              <a:solidFill>
                <a:schemeClr val="tx1">
                  <a:lumMod val="75000"/>
                  <a:lumOff val="25000"/>
                </a:schemeClr>
              </a:solidFill>
              <a:latin typeface="Inter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489250" y="2968451"/>
            <a:ext cx="3155900" cy="2680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912"/>
              </a:lnSpc>
            </a:pPr>
            <a:r>
              <a:rPr sz="1600" b="1" i="0" u="none" dirty="0">
                <a:solidFill>
                  <a:srgbClr val="334155"/>
                </a:solidFill>
                <a:latin typeface="Inter"/>
              </a:rPr>
              <a:t>Teacher </a:t>
            </a:r>
            <a:r>
              <a:rPr sz="1600" b="1" i="0" u="none" dirty="0" smtClean="0">
                <a:solidFill>
                  <a:srgbClr val="334155"/>
                </a:solidFill>
                <a:latin typeface="Inter"/>
              </a:rPr>
              <a:t>Story:</a:t>
            </a:r>
            <a:r>
              <a:rPr lang="en-US" sz="1600" b="1" i="0" u="none" dirty="0" smtClean="0">
                <a:solidFill>
                  <a:srgbClr val="334155"/>
                </a:solidFill>
                <a:latin typeface="Inter"/>
              </a:rPr>
              <a:t> </a:t>
            </a:r>
            <a:r>
              <a:rPr lang="en-US" sz="1200" i="0" u="none" dirty="0" smtClean="0">
                <a:solidFill>
                  <a:srgbClr val="334155"/>
                </a:solidFill>
                <a:latin typeface="Inter"/>
              </a:rPr>
              <a:t>(</a:t>
            </a:r>
            <a:r>
              <a:rPr lang="en-US" sz="1200" dirty="0" smtClean="0">
                <a:solidFill>
                  <a:srgbClr val="0F172A"/>
                </a:solidFill>
                <a:latin typeface="Poppins SemiBold"/>
              </a:rPr>
              <a:t>Mirazul </a:t>
            </a:r>
            <a:r>
              <a:rPr lang="en-US" sz="1200" dirty="0">
                <a:solidFill>
                  <a:srgbClr val="0F172A"/>
                </a:solidFill>
                <a:latin typeface="Poppins SemiBold"/>
              </a:rPr>
              <a:t>Islam </a:t>
            </a:r>
            <a:r>
              <a:rPr lang="en-US" sz="1200" dirty="0" smtClean="0">
                <a:solidFill>
                  <a:srgbClr val="0F172A"/>
                </a:solidFill>
                <a:latin typeface="Poppins SemiBold"/>
              </a:rPr>
              <a:t>Patawary)</a:t>
            </a:r>
            <a:endParaRPr lang="en-US" sz="1200" dirty="0">
              <a:solidFill>
                <a:srgbClr val="0F172A"/>
              </a:solidFill>
              <a:latin typeface="Poppins SemiBold"/>
            </a:endParaRPr>
          </a:p>
          <a:p>
            <a:pPr algn="l">
              <a:lnSpc>
                <a:spcPts val="1912"/>
              </a:lnSpc>
            </a:pPr>
            <a:endParaRPr lang="en-US" sz="1400" b="1" i="0" u="none" dirty="0" smtClean="0">
              <a:solidFill>
                <a:srgbClr val="334155"/>
              </a:solidFill>
              <a:latin typeface="Inter"/>
            </a:endParaRPr>
          </a:p>
          <a:p>
            <a:pPr algn="l">
              <a:lnSpc>
                <a:spcPts val="1912"/>
              </a:lnSpc>
            </a:pPr>
            <a:endParaRPr lang="en-US" sz="1400" b="1" i="0" u="none" dirty="0" smtClean="0">
              <a:solidFill>
                <a:srgbClr val="334155"/>
              </a:solidFill>
              <a:latin typeface="Inter"/>
            </a:endParaRPr>
          </a:p>
          <a:p>
            <a:pPr marL="285750" indent="-285750">
              <a:lnSpc>
                <a:spcPts val="1912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Inter"/>
              </a:rPr>
              <a:t>As a </a:t>
            </a: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Inter"/>
              </a:rPr>
              <a:t>Teacher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Inter"/>
              </a:rPr>
              <a:t>, I want to view my class schedule so that I know my daily teaching timetable. </a:t>
            </a:r>
            <a:endParaRPr lang="en-US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Inter"/>
            </a:endParaRPr>
          </a:p>
          <a:p>
            <a:pPr marL="285750" indent="-285750">
              <a:lnSpc>
                <a:spcPts val="1912"/>
              </a:lnSpc>
              <a:buFont typeface="Arial" panose="020B0604020202020204" pitchFamily="34" charset="0"/>
              <a:buChar char="•"/>
            </a:pPr>
            <a:endParaRPr lang="en-US" sz="1400" b="0" i="0" u="none" dirty="0">
              <a:solidFill>
                <a:schemeClr val="tx1">
                  <a:lumMod val="75000"/>
                  <a:lumOff val="25000"/>
                </a:schemeClr>
              </a:solidFill>
              <a:latin typeface="Inter"/>
            </a:endParaRPr>
          </a:p>
          <a:p>
            <a:pPr marL="285750" indent="-285750">
              <a:lnSpc>
                <a:spcPts val="1912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Inter"/>
              </a:rPr>
              <a:t>As a </a:t>
            </a: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Inter"/>
              </a:rPr>
              <a:t>Teacher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Inter"/>
              </a:rPr>
              <a:t>, I want to take daily attendance and record exam results so that student performance is tracked accurately. </a:t>
            </a:r>
            <a:endParaRPr sz="1400" b="0" i="0" u="none" dirty="0">
              <a:solidFill>
                <a:schemeClr val="tx1">
                  <a:lumMod val="75000"/>
                  <a:lumOff val="25000"/>
                </a:schemeClr>
              </a:solidFill>
              <a:latin typeface="Inter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340625" y="2962959"/>
            <a:ext cx="3155900" cy="29238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912"/>
              </a:lnSpc>
            </a:pP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Inter"/>
              </a:rPr>
              <a:t>Parent &amp; </a:t>
            </a:r>
            <a:r>
              <a:rPr 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Inter"/>
              </a:rPr>
              <a:t>Committee: </a:t>
            </a:r>
            <a:r>
              <a:rPr 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Inter"/>
              </a:rPr>
              <a:t>(</a:t>
            </a:r>
            <a:r>
              <a:rPr lang="en-US" sz="1200" dirty="0" smtClean="0">
                <a:solidFill>
                  <a:srgbClr val="0F172A"/>
                </a:solidFill>
                <a:latin typeface="Poppins SemiBold"/>
              </a:rPr>
              <a:t>MD </a:t>
            </a:r>
            <a:r>
              <a:rPr lang="en-US" sz="1200" dirty="0" err="1">
                <a:solidFill>
                  <a:srgbClr val="0F172A"/>
                </a:solidFill>
                <a:latin typeface="Poppins SemiBold"/>
              </a:rPr>
              <a:t>Abidur</a:t>
            </a:r>
            <a:r>
              <a:rPr lang="en-US" sz="1200" dirty="0">
                <a:solidFill>
                  <a:srgbClr val="0F172A"/>
                </a:solidFill>
                <a:latin typeface="Poppins SemiBold"/>
              </a:rPr>
              <a:t> </a:t>
            </a:r>
            <a:r>
              <a:rPr lang="en-US" sz="1200" dirty="0" smtClean="0">
                <a:solidFill>
                  <a:srgbClr val="0F172A"/>
                </a:solidFill>
                <a:latin typeface="Poppins SemiBold"/>
              </a:rPr>
              <a:t>Rahman)</a:t>
            </a:r>
            <a:endParaRPr lang="en-US" sz="1200" dirty="0">
              <a:solidFill>
                <a:srgbClr val="0F172A"/>
              </a:solidFill>
              <a:latin typeface="Poppins SemiBold"/>
            </a:endParaRPr>
          </a:p>
          <a:p>
            <a:pPr>
              <a:lnSpc>
                <a:spcPts val="1912"/>
              </a:lnSpc>
            </a:pPr>
            <a:endParaRPr lang="en-US" sz="1400" b="1" i="0" u="none" dirty="0" smtClean="0">
              <a:solidFill>
                <a:schemeClr val="tx1">
                  <a:lumMod val="75000"/>
                  <a:lumOff val="25000"/>
                </a:schemeClr>
              </a:solidFill>
              <a:latin typeface="Inter"/>
            </a:endParaRPr>
          </a:p>
          <a:p>
            <a:pPr marL="285750" indent="-285750">
              <a:lnSpc>
                <a:spcPts val="1912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Inter"/>
              </a:rPr>
              <a:t>As a </a:t>
            </a: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Inter"/>
              </a:rPr>
              <a:t>Parent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Inter"/>
              </a:rPr>
              <a:t>, I want to check my child's fee details and update parent contact info so that payments and communication stay clear. </a:t>
            </a:r>
            <a:endParaRPr lang="en-US" sz="1400" dirty="0" smtClean="0">
              <a:solidFill>
                <a:schemeClr val="tx1">
                  <a:lumMod val="75000"/>
                  <a:lumOff val="25000"/>
                </a:schemeClr>
              </a:solidFill>
              <a:latin typeface="Inter"/>
            </a:endParaRPr>
          </a:p>
          <a:p>
            <a:pPr marL="285750" indent="-285750">
              <a:lnSpc>
                <a:spcPts val="1912"/>
              </a:lnSpc>
              <a:buFont typeface="Arial" panose="020B0604020202020204" pitchFamily="34" charset="0"/>
              <a:buChar char="•"/>
            </a:pPr>
            <a:endParaRPr lang="en-US" sz="1400" b="0" i="0" u="none" dirty="0">
              <a:solidFill>
                <a:schemeClr val="tx1">
                  <a:lumMod val="75000"/>
                  <a:lumOff val="25000"/>
                </a:schemeClr>
              </a:solidFill>
              <a:latin typeface="Inter"/>
            </a:endParaRPr>
          </a:p>
          <a:p>
            <a:pPr marL="285750" indent="-285750">
              <a:lnSpc>
                <a:spcPts val="1912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As a </a:t>
            </a:r>
            <a:r>
              <a:rPr lang="en-US" sz="1400" b="1" dirty="0"/>
              <a:t>Committee member</a:t>
            </a:r>
            <a:r>
              <a:rPr lang="en-US" sz="1400" dirty="0"/>
              <a:t>, I want to oversee fee management and parent information so that school finances are properly monitored.</a:t>
            </a:r>
            <a:endParaRPr sz="1400" b="0" i="0" u="none" dirty="0">
              <a:solidFill>
                <a:schemeClr val="tx1">
                  <a:lumMod val="75000"/>
                  <a:lumOff val="25000"/>
                </a:schemeClr>
              </a:solidFill>
              <a:latin typeface="Inter"/>
            </a:endParaRP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5325" y="2400095"/>
            <a:ext cx="428625" cy="3429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92336" y="2409924"/>
            <a:ext cx="257175" cy="3429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40625" y="2400095"/>
            <a:ext cx="342900" cy="3429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7200" y="457200"/>
            <a:ext cx="117348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 dirty="0">
                <a:solidFill>
                  <a:srgbClr val="0F172A"/>
                </a:solidFill>
                <a:latin typeface="Poppins SemiBold"/>
              </a:rPr>
              <a:t>User Stories (Individual Contribution)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990600"/>
            <a:ext cx="11277600" cy="28575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1426451"/>
            <a:ext cx="117348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oppins SemiBold"/>
              </a:rPr>
              <a:t>It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Poppins SemiBold"/>
              </a:rPr>
              <a:t>explains who the user is, what they want to do, and why they need it.</a:t>
            </a:r>
            <a:endParaRPr b="0" i="0" u="none" dirty="0">
              <a:solidFill>
                <a:schemeClr val="tx1">
                  <a:lumMod val="75000"/>
                  <a:lumOff val="25000"/>
                </a:schemeClr>
              </a:solidFill>
              <a:latin typeface="Poppins Semi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318406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480766"/>
            <a:ext cx="4620986" cy="500136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436140"/>
            <a:ext cx="5090620" cy="50906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457200"/>
            <a:ext cx="117348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>
                <a:solidFill>
                  <a:srgbClr val="0F172A"/>
                </a:solidFill>
                <a:latin typeface="Poppins SemiBold"/>
              </a:rPr>
              <a:t>Agile Practice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990600"/>
            <a:ext cx="11277600" cy="28575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3"/>
          <p:cNvSpPr>
            <a:spLocks noChangeArrowheads="1"/>
          </p:cNvSpPr>
          <p:nvPr/>
        </p:nvSpPr>
        <p:spPr bwMode="auto">
          <a:xfrm>
            <a:off x="5649686" y="1850098"/>
            <a:ext cx="5573485" cy="42627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Inter"/>
              </a:rPr>
              <a:t>How We Used Agile in Our Project: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latin typeface="Inter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Inter"/>
              </a:rPr>
              <a:t>Product Backlog: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Inter"/>
              </a:rPr>
              <a:t> We created a list of all features needed for our School Management System. 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Inter"/>
              </a:rPr>
              <a:t>Sprint Planning: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Inter"/>
              </a:rPr>
              <a:t> In each sprint, our team picked specific tasks to work on.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Inter"/>
              </a:rPr>
              <a:t>Daily Communication: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Inter"/>
              </a:rPr>
              <a:t> We held short daily meetings to check progress and help each other.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Inter"/>
              </a:rPr>
              <a:t>Sprint Review: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Inter"/>
              </a:rPr>
              <a:t> At the end of each sprint, we checked our completed work, fixed errors, and improved our system step-by-step.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310243"/>
            <a:ext cx="12192000" cy="6858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457200"/>
            <a:ext cx="117348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>
                <a:solidFill>
                  <a:srgbClr val="0F172A"/>
                </a:solidFill>
                <a:latin typeface="Poppins SemiBold"/>
              </a:rPr>
              <a:t>ER Diagram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990600"/>
            <a:ext cx="11277600" cy="28575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8911" y="1066800"/>
            <a:ext cx="5092261" cy="5658141"/>
          </a:xfrm>
          <a:prstGeom prst="rect">
            <a:avLst/>
          </a:prstGeom>
        </p:spPr>
      </p:pic>
      <p:sp>
        <p:nvSpPr>
          <p:cNvPr id="14" name="Rectangle 1"/>
          <p:cNvSpPr>
            <a:spLocks noChangeArrowheads="1"/>
          </p:cNvSpPr>
          <p:nvPr/>
        </p:nvSpPr>
        <p:spPr bwMode="auto">
          <a:xfrm>
            <a:off x="402021" y="1236615"/>
            <a:ext cx="6017556" cy="50937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Inter"/>
              </a:rPr>
              <a:t>It shows all the database tables (Entities) for our School Management System and how they connect with each other.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Inter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Inter"/>
              </a:rPr>
              <a:t>Main Tables &amp; Key Relationships:</a:t>
            </a:r>
          </a:p>
          <a:p>
            <a:pPr lvl="1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Inter"/>
              </a:rPr>
              <a:t>Students Table: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Inter"/>
              </a:rPr>
              <a:t> Central entity that stores personal details (Name, DOB, Address) and connects to Classes and Parents using Foreign Keys (Class ID, Parent ID). </a:t>
            </a:r>
          </a:p>
          <a:p>
            <a:pPr lvl="1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Inter"/>
              </a:rPr>
              <a:t>Teachers &amp; Classes: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Inter"/>
              </a:rPr>
              <a:t> Stores teacher details and links each class to a specific Class Teacher ID. </a:t>
            </a:r>
          </a:p>
          <a:p>
            <a:pPr lvl="1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Inter"/>
              </a:rPr>
              <a:t>Course Schedule: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Inter"/>
              </a:rPr>
              <a:t> Connects classes, subjects, and teachers to manage daily timetables. </a:t>
            </a:r>
          </a:p>
          <a:p>
            <a:pPr lvl="1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Inter"/>
              </a:rPr>
              <a:t>Attendance, Fees &amp; Courses: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Inter"/>
              </a:rPr>
              <a:t> Records daily student attendance status, calculates fee totals, and tracks academic marks and grades. </a:t>
            </a:r>
          </a:p>
          <a:p>
            <a:pPr lvl="1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Inter"/>
              </a:rPr>
              <a:t>Student &amp; Teacher Archives: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Inter"/>
              </a:rPr>
              <a:t> Stores historical records of former students and teachers who have left the school. </a:t>
            </a:r>
          </a:p>
          <a:p>
            <a:pPr lvl="1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Inter"/>
              </a:rPr>
              <a:t>Junction Tables: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Inter"/>
              </a:rPr>
              <a:t> Handles many-to-many relationships between students, teachers, and courses.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9420492"/>
              </p:ext>
            </p:extLst>
          </p:nvPr>
        </p:nvGraphicFramePr>
        <p:xfrm>
          <a:off x="457200" y="1306156"/>
          <a:ext cx="11268073" cy="30813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07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459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5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6484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40191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FFFFF"/>
                          </a:solidFill>
                          <a:latin typeface="Inter SemiBold"/>
                        </a:rPr>
                        <a:t>Table Name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FFFFF"/>
                          </a:solidFill>
                          <a:latin typeface="Inter SemiBold"/>
                        </a:rPr>
                        <a:t>Field Name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FFFFF"/>
                          </a:solidFill>
                          <a:latin typeface="Inter SemiBold"/>
                        </a:rPr>
                        <a:t>Data Type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FFFFF"/>
                          </a:solidFill>
                          <a:latin typeface="Inter SemiBold"/>
                        </a:rPr>
                        <a:t>Key Type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FFFFF"/>
                          </a:solidFill>
                          <a:latin typeface="Inter SemiBold"/>
                        </a:rPr>
                        <a:t>Contributor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0191"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Inter"/>
                        </a:rPr>
                        <a:t>Students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Inter"/>
                        </a:rPr>
                        <a:t>Student_ID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Inter"/>
                        </a:rPr>
                        <a:t>Auto Number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Inter"/>
                        </a:rPr>
                        <a:t>Primary Key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Inter"/>
                        </a:rPr>
                        <a:t>MD Shahriar Islam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0191"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Inter"/>
                        </a:rPr>
                        <a:t>Teachers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Teacher_ID</a:t>
                      </a:r>
                      <a:endParaRPr sz="1275" b="0" i="0" u="none" dirty="0">
                        <a:solidFill>
                          <a:srgbClr val="334155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Inter"/>
                        </a:rPr>
                        <a:t>Auto Number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Inter"/>
                        </a:rPr>
                        <a:t>Primary Key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Inter"/>
                        </a:rPr>
                        <a:t>MD Shahriar Islam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0191"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Inter"/>
                        </a:rPr>
                        <a:t>Attendance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Inter"/>
                        </a:rPr>
                        <a:t>Attendance_ID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Auto Number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Inter"/>
                        </a:rPr>
                        <a:t>Primary Key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Inter"/>
                        </a:rPr>
                        <a:t>Mirazul Islam Patawary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0191"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Inter"/>
                        </a:rPr>
                        <a:t>Attendance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Student_ID</a:t>
                      </a:r>
                      <a:endParaRPr sz="1275" b="0" i="0" u="none" dirty="0">
                        <a:solidFill>
                          <a:srgbClr val="334155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Inter"/>
                        </a:rPr>
                        <a:t>Number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Inter"/>
                        </a:rPr>
                        <a:t>Foreign Key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Inter"/>
                        </a:rPr>
                        <a:t>Mirazul Islam Patawary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0191"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Inter"/>
                        </a:rPr>
                        <a:t>School_Fees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Fee_ID</a:t>
                      </a:r>
                      <a:endParaRPr sz="1275" b="0" i="0" u="none" dirty="0">
                        <a:solidFill>
                          <a:srgbClr val="334155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Inter"/>
                        </a:rPr>
                        <a:t>Auto Number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Inter"/>
                        </a:rPr>
                        <a:t>Primary Key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Inter"/>
                        </a:rPr>
                        <a:t>MD Abidur Rahman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0191"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Inter"/>
                        </a:rPr>
                        <a:t>School_Fees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Inter"/>
                        </a:rPr>
                        <a:t>Amount_Paid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Inter"/>
                        </a:rPr>
                        <a:t>Currency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-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MD </a:t>
                      </a:r>
                      <a:r>
                        <a:rPr sz="1275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Abidur</a:t>
                      </a:r>
                      <a:r>
                        <a:rPr sz="1275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 Rahman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457200"/>
            <a:ext cx="117348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>
                <a:solidFill>
                  <a:srgbClr val="0F172A"/>
                </a:solidFill>
                <a:latin typeface="Poppins SemiBold"/>
              </a:rPr>
              <a:t>Data Dictionary (Individual Contribution)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990600"/>
            <a:ext cx="11277600" cy="28575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"/>
          <p:cNvSpPr>
            <a:spLocks noChangeArrowheads="1"/>
          </p:cNvSpPr>
          <p:nvPr/>
        </p:nvSpPr>
        <p:spPr bwMode="auto">
          <a:xfrm>
            <a:off x="457200" y="4959470"/>
            <a:ext cx="1109104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Inter"/>
              </a:rPr>
              <a:t>  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Inter"/>
              </a:rPr>
              <a:t>Highlighted the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Inter"/>
              </a:rPr>
              <a:t>6 main tables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Inter"/>
              </a:rPr>
              <a:t> out of 12 system entities to keep the slide clean and readable.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Inter"/>
              </a:rPr>
              <a:t>  Complete documentation and data types for all 12 tables are provided in the main report.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5" y="-320789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13205"/>
            <a:ext cx="3632150" cy="2433874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7220" y="1413206"/>
            <a:ext cx="3494316" cy="243387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95325" y="2343146"/>
            <a:ext cx="3313695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0F172A"/>
                </a:solidFill>
                <a:latin typeface="Poppins SemiBold"/>
              </a:rPr>
              <a:t>1. Main Repository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5325" y="2755106"/>
            <a:ext cx="3155900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 dirty="0">
                <a:solidFill>
                  <a:srgbClr val="334155"/>
                </a:solidFill>
                <a:latin typeface="Inter"/>
              </a:rPr>
              <a:t>Created the shared team folder on GitHub to store all code files in one safe place.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07878" y="2315817"/>
            <a:ext cx="3313695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 dirty="0">
                <a:solidFill>
                  <a:srgbClr val="0F172A"/>
                </a:solidFill>
                <a:latin typeface="Poppins SemiBold"/>
              </a:rPr>
              <a:t>2. Feature Branches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96428" y="2755106"/>
            <a:ext cx="3155900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 dirty="0">
                <a:solidFill>
                  <a:srgbClr val="334155"/>
                </a:solidFill>
                <a:latin typeface="Inter"/>
              </a:rPr>
              <a:t>Each member used separate code branches to write individual feature updates without conflicts.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325" y="1736167"/>
            <a:ext cx="390525" cy="3429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3321" y="1724373"/>
            <a:ext cx="304800" cy="3429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7200" y="457200"/>
            <a:ext cx="117348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 dirty="0">
                <a:solidFill>
                  <a:srgbClr val="0F172A"/>
                </a:solidFill>
                <a:latin typeface="Poppins SemiBold"/>
              </a:rPr>
              <a:t>GitHub Usage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990600"/>
            <a:ext cx="11277600" cy="28575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931318"/>
            <a:ext cx="5467350" cy="178593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3425" y="3207543"/>
            <a:ext cx="5160645" cy="314325"/>
          </a:xfrm>
          <a:prstGeom prst="rect">
            <a:avLst/>
          </a:prstGeom>
          <a:noFill/>
        </p:spPr>
        <p:txBody>
          <a:bodyPr wrap="square" lIns="28575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0F172A"/>
                </a:solidFill>
                <a:latin typeface="Poppins SemiBold"/>
              </a:rPr>
              <a:t>Database Table Linking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3425" y="3617118"/>
            <a:ext cx="49149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 dirty="0">
                <a:solidFill>
                  <a:srgbClr val="334155"/>
                </a:solidFill>
                <a:latin typeface="Inter"/>
              </a:rPr>
              <a:t>It was difficult to connect Students and </a:t>
            </a:r>
            <a:r>
              <a:rPr lang="en-US" sz="1275" dirty="0" smtClean="0">
                <a:solidFill>
                  <a:srgbClr val="334155"/>
                </a:solidFill>
                <a:latin typeface="Inter"/>
              </a:rPr>
              <a:t>Teacher</a:t>
            </a:r>
            <a:r>
              <a:rPr sz="1275" b="0" i="0" u="none" dirty="0" smtClean="0">
                <a:solidFill>
                  <a:srgbClr val="334155"/>
                </a:solidFill>
                <a:latin typeface="Inter"/>
              </a:rPr>
              <a:t> 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without duplicating data, but we solved it by using proper Foreign Keys.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425" y="3255168"/>
            <a:ext cx="209550" cy="2095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457200"/>
            <a:ext cx="117348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>
                <a:solidFill>
                  <a:srgbClr val="0F172A"/>
                </a:solidFill>
                <a:latin typeface="Poppins SemiBold"/>
              </a:rPr>
              <a:t>Challenges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990600"/>
            <a:ext cx="11277600" cy="28575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496943"/>
            <a:ext cx="117348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 dirty="0">
                <a:solidFill>
                  <a:srgbClr val="0F172A"/>
                </a:solidFill>
                <a:latin typeface="Poppins SemiBold"/>
              </a:rPr>
              <a:t>Conclusion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990600"/>
            <a:ext cx="11277600" cy="28575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457200" y="1226503"/>
            <a:ext cx="10055772" cy="46628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Inter"/>
              </a:rPr>
              <a:t>  Introduction &amp; Domain: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Inter"/>
              </a:rPr>
              <a:t> Understood the core requirements of a modern School Management System to digitize daily school operations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 smtClean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latin typeface="Inter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Inter"/>
              </a:rPr>
              <a:t>  Agile Scrum Approach: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Inter"/>
              </a:rPr>
              <a:t> Followed a 4-step Agile cycle (Backlog, Planning, Daily Communication, Review) to keep our development organized.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latin typeface="Inter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Inter"/>
              </a:rPr>
              <a:t>  System Design &amp; Roles: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Inter"/>
              </a:rPr>
              <a:t> Created Use Case diagrams to define user roles and User Stories to map features accurately.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latin typeface="Inter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Inter"/>
              </a:rPr>
              <a:t>  Database &amp; Workflow: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Inter"/>
              </a:rPr>
              <a:t> Designed a 12-entity ERD with a clear Data Dictionary for key tables, and managed our code using GitHub version control.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10564" y="2457450"/>
            <a:ext cx="6970871" cy="904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1" i="0" u="none">
                <a:solidFill>
                  <a:srgbClr val="0F172A"/>
                </a:solidFill>
                <a:latin typeface="Poppins"/>
              </a:rPr>
              <a:t>Questions &amp;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76537" y="3514725"/>
            <a:ext cx="663892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sz="1800" b="0" i="0" u="none">
                <a:solidFill>
                  <a:srgbClr val="0D9488"/>
                </a:solidFill>
                <a:latin typeface="Inter Medium"/>
              </a:rPr>
              <a:t>Thank you for listening!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76537" y="4048125"/>
            <a:ext cx="663892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64748B"/>
                </a:solidFill>
                <a:latin typeface="Inter Medium"/>
              </a:rPr>
              <a:t>We are happy to answer any questions.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495550" y="2286000"/>
            <a:ext cx="72009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495550" y="3057525"/>
            <a:ext cx="72009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495550" y="3829050"/>
            <a:ext cx="72009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495550" y="3048000"/>
            <a:ext cx="72009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495550" y="3048000"/>
            <a:ext cx="72009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495550" y="3819525"/>
            <a:ext cx="72009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495550" y="3819525"/>
            <a:ext cx="72009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495550" y="4591050"/>
            <a:ext cx="72009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495550" y="4591050"/>
            <a:ext cx="72009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90925" y="3207543"/>
            <a:ext cx="610552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334155"/>
                </a:solidFill>
                <a:latin typeface="Inter"/>
              </a:rPr>
              <a:t>https://online.visual-paradigm.com/repository/images/ec0d979c-50a6-430e-a9c6-8fde247be9b7.png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90925" y="3440906"/>
            <a:ext cx="61055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online.visual-paradigm.com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90925" y="4750593"/>
            <a:ext cx="610552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334155"/>
                </a:solidFill>
                <a:latin typeface="Inter"/>
              </a:rPr>
              <a:t>https://i.ytimg.com/vi/lKdHA2c-dz4/maxresdefault.jpg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90925" y="4983956"/>
            <a:ext cx="61055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www.youtube.com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57200"/>
            <a:ext cx="117348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 dirty="0">
                <a:solidFill>
                  <a:srgbClr val="0F172A"/>
                </a:solidFill>
                <a:latin typeface="Poppins SemiBold"/>
              </a:rPr>
              <a:t>Image Sources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990600"/>
            <a:ext cx="11277600" cy="28575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4241" y="4714754"/>
            <a:ext cx="608559" cy="647821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5550" y="3138366"/>
            <a:ext cx="692875" cy="6668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3050</TotalTime>
  <Words>890</Words>
  <Application>Microsoft Office PowerPoint</Application>
  <PresentationFormat>Widescreen</PresentationFormat>
  <Paragraphs>134</Paragraphs>
  <Slides>13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Calibri</vt:lpstr>
      <vt:lpstr>Inter</vt:lpstr>
      <vt:lpstr>Inter Medium</vt:lpstr>
      <vt:lpstr>Inter SemiBold</vt:lpstr>
      <vt:lpstr>Poppins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Hp</dc:creator>
  <cp:keywords/>
  <dc:description>generated using python-pptx</dc:description>
  <cp:lastModifiedBy>Hp</cp:lastModifiedBy>
  <cp:revision>19</cp:revision>
  <dcterms:created xsi:type="dcterms:W3CDTF">2013-01-27T09:14:16Z</dcterms:created>
  <dcterms:modified xsi:type="dcterms:W3CDTF">2026-09-01T11:15:08Z</dcterms:modified>
  <cp:category/>
</cp:coreProperties>
</file>